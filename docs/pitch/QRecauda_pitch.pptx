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clave obtenida (miles de bits)</c:v>
                </c:pt>
              </c:strCache>
            </c:strRef>
          </c:tx>
          <c:spPr>
            <a:solidFill>
              <a:srgbClr val="2E5E4E"/>
            </a:solidFill>
          </c:spPr>
          <c:cat>
            <c:strRef>
              <c:f>Sheet1!$A$2:$A$4</c:f>
              <c:strCache>
                <c:ptCount val="3"/>
                <c:pt idx="0">
                  <c:v>MCV (0.1.0)</c:v>
                </c:pt>
                <c:pt idx="1">
                  <c:v>mín. de MCV y 90B</c:v>
                </c:pt>
                <c:pt idx="2">
                  <c:v>conservador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381</c:v>
                </c:pt>
                <c:pt idx="1">
                  <c:v>279</c:v>
                </c:pt>
                <c:pt idx="2">
                  <c:v>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techo teórico de la fuente</c:v>
                </c:pt>
              </c:strCache>
            </c:strRef>
          </c:tx>
          <c:spPr>
            <a:solidFill>
              <a:srgbClr val="9C3D2A"/>
            </a:solidFill>
          </c:spPr>
          <c:cat>
            <c:strRef>
              <c:f>Sheet1!$A$2:$A$4</c:f>
              <c:strCache>
                <c:ptCount val="3"/>
                <c:pt idx="0">
                  <c:v>MCV (0.1.0)</c:v>
                </c:pt>
                <c:pt idx="1">
                  <c:v>mín. de MCV y 90B</c:v>
                </c:pt>
                <c:pt idx="2">
                  <c:v>conservador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232</c:v>
                </c:pt>
                <c:pt idx="1">
                  <c:v>232</c:v>
                </c:pt>
                <c:pt idx="2">
                  <c:v>232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Diez segundos. «La aleatoriedad clásica se predice. La recaudación del Perú no debería.»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volumen es real; la exigencia legal de un QRNG, no. Ninguna norma revisada (Ley 29733, SBS, MTC) la pide. El argumento es de ingeniería: un generador pseudoaleatorio sale de un estado, y quien lo reconstruye reproduce las claves siguientes. Cifras de contexto: docs/pitch/IMPACTO.md, con etiqueta verificado o tercero.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un circuito de un solo gate (Hadamard) sobre ocho qubits. Hoy en el simulador Aer; la computadora de IBM entra por el mismo puerto. Siete métricas de aceptación con umbral escrito antes de correr. Aer es pseudoaleatorio: con semilla es determinista y no tiene valor de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Hallazgo central. Control negativo del pipeline completo (E5): tres fuentes con dependencia entre bits atraviesan la cadena. Con el dimensionado de la 0.1.0 las nueve claves pasan M1 a M5 y salen entre 1,2 y 2,5 veces más largas de lo que la fuente sostiene. El dimensionado conservador las acorta bajo el techo teórico. Límite honesto: E5 es casi un control por construcción y el conservador es opcional. Valores del gráfico: fuente markov_fuerte, media de tres semillas (C.E5), en miles de bits; techo teórico 231 944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qrecauda demo corre las tres ramas: PRNG, Aer sin mitigar, Aer mitigado. Sesgo de la muestra: sin mitigar 0,0296 a 0,0304 (umbral 0,01); mitigado a lo sumo 0,0004. La clave pasa M1 en las tres ramas: pasar la batería no prueba el origen. Lo digo yo antes de que lo pregunten.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E1, E2, E3b y E5 cumplen, con matices declarados: poder limitado para fallar. E3 no cumplió y su veredicto sigue en el registro. E4, sobre hardware de IBM, está preinscrito y bloqueado por falta de credencial.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E3 mide generar y cifrar dentro de la transacción: p95 de 5,5 a 9,4 s, entre 11 y 19 veces el umbral. El veredicto no se reabre. E3b es otro diseño con su propia preinscripción: un proceso productor genera claves aparte. p95 de 0,17 a 0,18 ms con la reserva cebada, 12 000 transacciones por semilla, cero esperas. No es comparable con E3. El costo se trasladó al arranque: 6,6 s hasta la primera clave, y una transacción que llegue durante él incumpliría M7. Límites: simulador, sin la cola ni la red de IBM, demanda declarada por 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883 casos de prueba, siete contratos de importación ejecutables, dos validadores independientes que se contrastan. Cada experimento se preinscribe antes de correr; un juez se niega a veredictar si falta el orden o un control. Dos revisiones adversariales independientes (R.01 y R.02) puntuaron entre 5,5 y 7,5 sobre 10 y sus hallazgos están incorporados. El plan como grafo verificable y la documentación son material suplementario compartido.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TRL del sistema: 3. Todo se midió en simulador y no se afirma origen cuántico. El camino a IBM está implementado y ensayado contra un backend falso; la corrida real (E4) está preinscrita y espera una credencial. Pedimos acceso a un backend de IBM Quantum, y que quien opere el cobro revise los umbrales de tasa y latencia, que hoy son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ocho segundos. Repetir la frase de la tesis y pedir el backend de IBM.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Respuestas completas en docs/pitch/GUION.md.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Límites declarados en el informe técnico (docs/paper/paper.pdf).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7A756C"/>
                </a:solidFill>
                <a:latin typeface="Calibri"/>
              </a:rPr>
              <a:t>HACKATÓN QISKIT IBM LIMA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Criptoseguridad para recaudación mediante generación cuántica de números aleatorios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>
                <a:solidFill>
                  <a:srgbClr val="2B2824"/>
                </a:solidFill>
                <a:latin typeface="Georgia"/>
              </a:rPr>
              <a:t>QRecauda: claves de cifrado para peajes y Metro, medidas desde la fuente hasta la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886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7A756C"/>
                </a:solidFill>
                <a:latin typeface="Calibri"/>
              </a:rPr>
              <a:t>Un pipeline sobre Qiskit con cinco experimentos preinscritos y un resultado negativo publicado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10058400" cy="9144"/>
          </a:xfrm>
          <a:prstGeom prst="rect">
            <a:avLst/>
          </a:prstGeom>
          <a:solidFill>
            <a:srgbClr val="2B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2920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2B2824"/>
                </a:solidFill>
                <a:latin typeface="Calibri"/>
              </a:rPr>
              <a:t>kaitokid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C"/>
                </a:solidFill>
                <a:latin typeface="Calibri"/>
              </a:rPr>
              <a:t>Preselección · versión 0.2.0 · octubre de 2026 · código abierto (Apache-2.0)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B2824"/>
                </a:solidFill>
                <a:latin typeface="Georgia"/>
              </a:rPr>
              <a:t>Una clave que se puede recalcular no protege un cobro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C"/>
                </a:solidFill>
                <a:latin typeface="Calibri"/>
              </a:rPr>
              <a:t>kaitokid · QRecauda · Hackatón Qiskit IBM Lima, Track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6C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64792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>
                <a:solidFill>
                  <a:srgbClr val="2B2824"/>
                </a:solidFill>
                <a:latin typeface="Georgia"/>
              </a:rPr>
              <a:t>203,9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pasajeros en la Línea 1 del Metro de Lima en 2025 (verificado)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9272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>
                <a:solidFill>
                  <a:srgbClr val="2E5E4E"/>
                </a:solidFill>
                <a:latin typeface="Georgia"/>
              </a:rPr>
              <a:t>600 000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usuarios por día en la Línea 1 (dato de tercero)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73752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>
                <a:solidFill>
                  <a:srgbClr val="9C3D2A"/>
                </a:solidFill>
                <a:latin typeface="Georgia"/>
              </a:rPr>
              <a:t>24,6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5099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vehículos en peajes, primer cuatrimestre de 2021 (tercero, desactualizado)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356616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356616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764792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B2824"/>
                </a:solidFill>
                <a:latin typeface="Calibri"/>
              </a:rPr>
              <a:t>Qué está en juego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240280"/>
            <a:ext cx="66751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A756C"/>
                </a:solidFill>
                <a:latin typeface="Calibri"/>
              </a:rPr>
              <a:t>Cada transacción pequeña se cifra con una clave y un nonce que salen de un generador.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Un generador pseudoaleatorio calcula su salida desde un estado interno. Quien lo roba o lo reconstruye reproduce las claves futuras.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Un generador cuántico evita esa dependencia, pero uno simulado no aporta entropía cuántica, y aprobar una batería estadística no prueba el origen.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Pregunta del proyecto: ¿qué calidad tiene la clave que sale de toda la cadena, y cómo se mide sin engañarse?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B2824"/>
                </a:solidFill>
                <a:latin typeface="Georgia"/>
              </a:rPr>
              <a:t>Una cadena que mide cada etapa, de los bits a la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C"/>
                </a:solidFill>
                <a:latin typeface="Calibri"/>
              </a:rPr>
              <a:t>kaitokid · QRecauda · Hackatón Qiskit IBM Lima, Track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6C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E5E4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B2824"/>
                </a:solidFill>
                <a:latin typeface="Calibri"/>
              </a:rPr>
              <a:t>Fuente de 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Hadamard × 8 qubits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74519"/>
            <a:ext cx="164592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96596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E5E4E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46888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B2824"/>
                </a:solidFill>
                <a:latin typeface="Calibri"/>
              </a:rPr>
              <a:t>Mitigación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92608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twirling de lectura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1874519"/>
            <a:ext cx="164592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E5E4E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46888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B2824"/>
                </a:solidFill>
                <a:latin typeface="Calibri"/>
              </a:rPr>
              <a:t>Extracción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2608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Peres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874519"/>
            <a:ext cx="164592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96596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E5E4E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46888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B2824"/>
                </a:solidFill>
                <a:latin typeface="Calibri"/>
              </a:rPr>
              <a:t>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92608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Toeplitz + LHL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874519"/>
            <a:ext cx="164592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196596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9C3D2A"/>
                </a:solidFill>
                <a:latin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46888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B2824"/>
                </a:solidFill>
                <a:latin typeface="Calibri"/>
              </a:rPr>
              <a:t>Validación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92608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NIST 800-22 y 90B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1874519"/>
            <a:ext cx="164592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196596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E5E4E"/>
                </a:solidFill>
                <a:latin typeface="Georgia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468880"/>
            <a:ext cx="1600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B2824"/>
                </a:solidFill>
                <a:latin typeface="Calibri"/>
              </a:rPr>
              <a:t>Cifrado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92608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AES-256-GCM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20" y="1874519"/>
            <a:ext cx="164592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06908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>
                <a:solidFill>
                  <a:srgbClr val="2B2824"/>
                </a:solidFill>
                <a:latin typeface="Georgia"/>
              </a:rPr>
              <a:t>M1–M7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84632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siete métricas de aceptación: sesgo, min-entropía, tres pruebas NIST, tasa y latencia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160520"/>
            <a:ext cx="6675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7A756C"/>
                </a:solidFill>
                <a:latin typeface="Calibri"/>
              </a:rPr>
              <a:t>La fuente es un puerto: cambiar de simulador a hardware de IBM no toca el resto.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7A756C"/>
                </a:solidFill>
                <a:latin typeface="Calibri"/>
              </a:rPr>
              <a:t>La mitigación de lectura conserva los bits por disparo; ZNE y PEC no lo hacen.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7A756C"/>
                </a:solidFill>
                <a:latin typeface="Calibri"/>
              </a:rPr>
              <a:t>Toda cifra sale de una corrida con nombre; lo no verificado se marca como hipótesis.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B2824"/>
                </a:solidFill>
                <a:latin typeface="Georgia"/>
              </a:rPr>
              <a:t>La batería estadística aprueba claves de fuentes defectuosas; medirlas por la fuente las corrige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C"/>
                </a:solidFill>
                <a:latin typeface="Calibri"/>
              </a:rPr>
              <a:t>kaitokid · QRecauda · Hackatón Qiskit IBM Lima, Track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6C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0" y="2103120"/>
          <a:ext cx="690372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663440" y="1764792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B2824"/>
                </a:solidFill>
                <a:latin typeface="Calibri"/>
              </a:rPr>
              <a:t>Fuente de Markov fuerte: bits de clave según el dimensionado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64792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>
                <a:solidFill>
                  <a:srgbClr val="9C3D2A"/>
                </a:solidFill>
                <a:latin typeface="Georgia"/>
              </a:rPr>
              <a:t>1,2 a 2,5×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más larga que lo que la fuente sostiene, con claves que pasan M1 a M5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19272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>
                <a:solidFill>
                  <a:srgbClr val="2E5E4E"/>
                </a:solidFill>
                <a:latin typeface="Georgia"/>
              </a:rPr>
              <a:t>56 mil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96511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bits con el dimensionado conservador, bajo el techo de 232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73752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>
                <a:solidFill>
                  <a:srgbClr val="2B2824"/>
                </a:solidFill>
                <a:latin typeface="Georgia"/>
              </a:rPr>
              <a:t>89,5–92,3 %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5099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de la clave se conserva con una fuente buena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356616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800600"/>
            <a:ext cx="356616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B2824"/>
                </a:solidFill>
                <a:latin typeface="Georgia"/>
              </a:rPr>
              <a:t>Demo: la mitigación limpia la entrada, y la clave pasa aun sin ella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C"/>
                </a:solidFill>
                <a:latin typeface="Calibri"/>
              </a:rPr>
              <a:t>kaitokid · QRecauda · Hackatón Qiskit IBM Lima, Track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6C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demo_tres_ra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6949440" cy="29187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764792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2E5E4E"/>
                </a:solidFill>
                <a:latin typeface="Georgia"/>
              </a:rPr>
              <a:t>0,030 → 0,0004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42032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sesgo de lectura de la muestra, sin y con mitigación (umbral 0,01)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319272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>
                <a:solidFill>
                  <a:srgbClr val="9C3D2A"/>
                </a:solidFill>
                <a:latin typeface="Georgia"/>
              </a:rPr>
              <a:t>3 de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096511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semillas en que la clave sin mitigar también pasa 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98348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Con el simulador, la semilla es pública: esta clave se puede recalcular y no tiene valor de seguridad.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246120"/>
            <a:ext cx="356616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4892040"/>
            <a:ext cx="356616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B2824"/>
                </a:solidFill>
                <a:latin typeface="Georgia"/>
              </a:rPr>
              <a:t>Cinco experimentos juzgados, uno de ellos negativo, y uno bloqueado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C"/>
                </a:solidFill>
                <a:latin typeface="Calibri"/>
              </a:rPr>
              <a:t>kaitokid · QRecauda · Hackatón Qiskit IBM Lima, Track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6C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9270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  <a:gridCol w="56235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9F5"/>
                          </a:solidFill>
                          <a:latin typeface="Calibri"/>
                        </a:rPr>
                        <a:t>experimento</a:t>
                      </a:r>
                    </a:p>
                  </a:txBody>
                  <a:tcPr marL="91440" marR="91440" anchor="ctr">
                    <a:solidFill>
                      <a:srgbClr val="2B28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9F5"/>
                          </a:solidFill>
                          <a:latin typeface="Calibri"/>
                        </a:rPr>
                        <a:t>veredicto</a:t>
                      </a:r>
                    </a:p>
                  </a:txBody>
                  <a:tcPr marL="91440" marR="91440" anchor="ctr">
                    <a:solidFill>
                      <a:srgbClr val="2B28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9F5"/>
                          </a:solidFill>
                          <a:latin typeface="Calibri"/>
                        </a:rPr>
                        <a:t>qué dice</a:t>
                      </a:r>
                    </a:p>
                  </a:txBody>
                  <a:tcPr marL="91440" marR="91440" anchor="ctr">
                    <a:solidFill>
                      <a:srgbClr val="2B282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824"/>
                          </a:solidFill>
                          <a:latin typeface="Calibri"/>
                        </a:rPr>
                        <a:t>E1 · calidad de la clave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CUMPLE, condicionado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clave de al menos 956,6 mil bits; condicionado a dos enmiendas fechadas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824"/>
                          </a:solidFill>
                          <a:latin typeface="Calibri"/>
                        </a:rPr>
                        <a:t>E2 · sesgo de lectura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el twirling baja el sesgo de 0,030 a casi cero; ZNE y PEC no lo mueven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824"/>
                          </a:solidFill>
                          <a:latin typeface="Calibri"/>
                        </a:rPr>
                        <a:t>E3 · latencia por transacción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C3D2A"/>
                          </a:solidFill>
                          <a:latin typeface="Calibri"/>
                        </a:rPr>
                        <a:t>NO CUMPLE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tasa correcta (180 a 195 kbit/s), latencia p95 de 5,5 a 9,4 s frente a 500 ms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824"/>
                          </a:solidFill>
                          <a:latin typeface="Calibri"/>
                        </a:rPr>
                        <a:t>E3b · reserva de claves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p95 de 0,17 a 0,18 ms con la reserva cebada; otro diseño, no comparable con E3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824"/>
                          </a:solidFill>
                          <a:latin typeface="Calibri"/>
                        </a:rPr>
                        <a:t>E5 · control negativo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CUMPLE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el pipeline completo acorta claves de fuentes defectuosas; casi un control por construcción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824"/>
                          </a:solidFill>
                          <a:latin typeface="Calibri"/>
                        </a:rPr>
                        <a:t>E4 · hardware de IBM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PENDIENTE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preinscrito; espera una credencial de IBM Quantum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B2824"/>
                </a:solidFill>
                <a:latin typeface="Georgia"/>
              </a:rPr>
              <a:t>Generar una clave por transacción tarda segundos; una reserva de claves la deja en décimas de milisegundo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C"/>
                </a:solidFill>
                <a:latin typeface="Calibri"/>
              </a:rPr>
              <a:t>kaitokid · QRecauda · Hackatón Qiskit IBM Lima, Track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6C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64792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>
                <a:solidFill>
                  <a:srgbClr val="9C3D2A"/>
                </a:solidFill>
                <a:latin typeface="Georgia"/>
              </a:rPr>
              <a:t>5,5 a 9,4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E3: una clave nueva por transacción (p95), frente al umbral M7 de 500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64792"/>
            <a:ext cx="5120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>
                <a:solidFill>
                  <a:srgbClr val="2E5E4E"/>
                </a:solidFill>
                <a:latin typeface="Georgia"/>
              </a:rPr>
              <a:t>0,17 a 0,18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542032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E3b: clave tomada de la reserva ya cebada (p95)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512064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3429000"/>
            <a:ext cx="539496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49377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A756C"/>
                </a:solidFill>
                <a:latin typeface="Calibri"/>
              </a:rPr>
              <a:t>La tasa de claves supera 18 veces el umbral: el sistema produce rápido y entrega tarde.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El 75 % del ciclo se va en simular el circuito y en la mitigación.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657600"/>
            <a:ext cx="51206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A756C"/>
                </a:solidFill>
                <a:latin typeface="Calibri"/>
              </a:rPr>
              <a:t>Capacidad del productor de 177 a 199 kbit/s; entregado en régimen, 47,8 kbit/s; cero esperas.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El costo pasa al arranque (6,6 s hasta la primera clave) y a la custodia de una reserva en memoria.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Medido en simulador, sin la cola ni la red de IBM.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B2824"/>
                </a:solidFill>
                <a:latin typeface="Georgia"/>
              </a:rPr>
              <a:t>La calidad se puede auditar: cada cifra se regenera desde un registro que sólo crece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C"/>
                </a:solidFill>
                <a:latin typeface="Calibri"/>
              </a:rPr>
              <a:t>kaitokid · QRecauda · Hackatón Qiskit IBM Lima, Track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6C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64792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>
                <a:solidFill>
                  <a:srgbClr val="2B2824"/>
                </a:solidFill>
                <a:latin typeface="Georgia"/>
              </a:rPr>
              <a:t>883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casos de prueba; CI verde en un entorno limpio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19272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>
                <a:solidFill>
                  <a:srgbClr val="2E5E4E"/>
                </a:solidFill>
                <a:latin typeface="Georgia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contratos de importación que protegen el dominio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73752"/>
            <a:ext cx="3383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>
                <a:solidFill>
                  <a:srgbClr val="9C3D2A"/>
                </a:solidFill>
                <a:latin typeface="Georgia"/>
              </a:rPr>
              <a:t>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50992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7A756C"/>
                </a:solidFill>
                <a:latin typeface="Calibri"/>
              </a:rPr>
              <a:t>nodos en el plan verificable, con estado en un registro de sólo añadir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356616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356616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764792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B2824"/>
                </a:solidFill>
                <a:latin typeface="Calibri"/>
              </a:rPr>
              <a:t>Cómo se evita engañarse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240280"/>
            <a:ext cx="66751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A756C"/>
                </a:solidFill>
                <a:latin typeface="Calibri"/>
              </a:rPr>
              <a:t>Umbrales, controles y desenlaces posibles se escriben antes de correr; las enmiendas llevan fecha y commit.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Cada experimento lleva controles que pueden invalidar la corrida; un generador clásico también pasa la batería, y eso se mide.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Dos revisiones independientes buscaron romper el trabajo; sus hallazgos corrigieron frases que prometían más de lo medido.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Un resultado negativo (E3) se conserva en el registro y no se reabre; el rediseño es otro experimento.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B2824"/>
                </a:solidFill>
                <a:latin typeface="Georgia"/>
              </a:rPr>
              <a:t>Del simulador al hardware: lo que falta es una corrida real en IBM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C"/>
                </a:solidFill>
                <a:latin typeface="Calibri"/>
              </a:rPr>
              <a:t>kaitokid · QRecauda · Hackatón Qiskit IBM Lima, Track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6C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64008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6634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9F5"/>
                          </a:solidFill>
                          <a:latin typeface="Calibri"/>
                        </a:rPr>
                        <a:t>etapa</a:t>
                      </a:r>
                    </a:p>
                  </a:txBody>
                  <a:tcPr marL="91440" marR="91440" anchor="ctr">
                    <a:solidFill>
                      <a:srgbClr val="2B28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BF9F5"/>
                          </a:solidFill>
                          <a:latin typeface="Calibri"/>
                        </a:rPr>
                        <a:t>qué la cierra</a:t>
                      </a:r>
                    </a:p>
                  </a:txBody>
                  <a:tcPr marL="91440" marR="91440" anchor="ctr">
                    <a:solidFill>
                      <a:srgbClr val="2B282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824"/>
                          </a:solidFill>
                          <a:latin typeface="Calibri"/>
                        </a:rPr>
                        <a:t>Hoy · TRL 3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simulador; latencia resuelta con reserva; sin hardware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824"/>
                          </a:solidFill>
                          <a:latin typeface="Calibri"/>
                        </a:rPr>
                        <a:t>TRL 4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corrida real en IBM con identificador de trabajo (E4)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824"/>
                          </a:solidFill>
                          <a:latin typeface="Calibri"/>
                        </a:rPr>
                        <a:t>TRL 5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E1 y E2 repetidos sobre la fuente real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824"/>
                          </a:solidFill>
                          <a:latin typeface="Calibri"/>
                        </a:rPr>
                        <a:t>Piloto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umbrales validados con quien opere el cobro</a:t>
                      </a:r>
                    </a:p>
                  </a:txBody>
                  <a:tcPr marL="91440" marR="91440" anchor="ctr">
                    <a:solidFill>
                      <a:srgbClr val="F3EFE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B2824"/>
                          </a:solidFill>
                          <a:latin typeface="Calibri"/>
                        </a:rPr>
                        <a:t>Producción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B2824"/>
                          </a:solidFill>
                          <a:latin typeface="Calibri"/>
                        </a:rPr>
                        <a:t>custodia de claves y certificación de la fuente</a:t>
                      </a:r>
                    </a:p>
                  </a:txBody>
                  <a:tcPr marL="91440" marR="91440" anchor="ctr">
                    <a:solidFill>
                      <a:srgbClr val="FBF9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76479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B2824"/>
                </a:solidFill>
                <a:latin typeface="Calibri"/>
              </a:rPr>
              <a:t>Lo que pedimos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240280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A756C"/>
                </a:solidFill>
                <a:latin typeface="Calibri"/>
              </a:rPr>
              <a:t>Acceso a un backend de IBM Quantum para la primera corrida real.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Que quien opere el cobro revise los umbrales de 500 ms y 10 kbit/s.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663440"/>
            <a:ext cx="4023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C3D2A"/>
                </a:solidFill>
                <a:latin typeface="Calibri"/>
              </a:rPr>
              <a:t>Con hardware real no diríamos «entropía cuántica certificada»: no existe un QRNG certificado de IBM que podamos citar.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>
                <a:solidFill>
                  <a:srgbClr val="2B2824"/>
                </a:solidFill>
                <a:latin typeface="Georgia"/>
              </a:rPr>
              <a:t>La aleatoriedad clásica se predice. La recaudación del Perú no debería.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5661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7A756C"/>
                </a:solidFill>
                <a:latin typeface="Calibri"/>
              </a:rPr>
              <a:t>Un pipeline que corre de punta a punta en una PC, con un control negativo del pipeline completo y las razones medidas de lo que aún no cumple.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937760"/>
            <a:ext cx="10058400" cy="9144"/>
          </a:xfrm>
          <a:prstGeom prst="rect">
            <a:avLst/>
          </a:prstGeom>
          <a:solidFill>
            <a:srgbClr val="2B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12064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7A756C"/>
                </a:solidFill>
                <a:latin typeface="Georgia"/>
              </a:rPr>
              <a:t>Gracias. Quedo atento a sus preguntas.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B2824"/>
                </a:solidFill>
                <a:latin typeface="Georgia"/>
              </a:rPr>
              <a:t>Respaldo: preguntas probables del jurado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C"/>
                </a:solidFill>
                <a:latin typeface="Calibri"/>
              </a:rPr>
              <a:t>kaitokid · QRecauda · Hackatón Qiskit IBM Lima, Track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6C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39"/>
            <a:ext cx="512064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B2824"/>
                </a:solidFill>
                <a:latin typeface="Calibri"/>
              </a:rPr>
              <a:t>¿Dónde está lo cuántico?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A756C"/>
                </a:solidFill>
                <a:latin typeface="Calibri"/>
              </a:rPr>
              <a:t>En ningún lado todavía: Aer es pseudoaleatorio. Se valida el postprocesamiento y su medición; el origen depende de la corrida en hardware, que no existe.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91639"/>
            <a:ext cx="512064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B2824"/>
                </a:solidFill>
                <a:latin typeface="Calibri"/>
              </a:rPr>
              <a:t>¿Pasa NIST aunque la fuente sea mala?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A756C"/>
                </a:solidFill>
                <a:latin typeface="Calibri"/>
              </a:rPr>
              <a:t>Sí, es un hallazgo propio: Peres y Toeplitz bastan para aprobar la batería. Por eso la fuente se mide con 90B y hay un control negativo (E5).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77640"/>
            <a:ext cx="512064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B2824"/>
                </a:solidFill>
                <a:latin typeface="Calibri"/>
              </a:rPr>
              <a:t>M7 falló. ¿Qué hacen?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A756C"/>
                </a:solidFill>
                <a:latin typeface="Calibri"/>
              </a:rPr>
              <a:t>El veredicto de E3 se conserva. La reserva de claves (E3b) es otro diseño con su preinscripción; el costo pasa al arranque de 6,6 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977640"/>
            <a:ext cx="512064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B2824"/>
                </a:solidFill>
                <a:latin typeface="Calibri"/>
              </a:rPr>
              <a:t>¿Por qué una mitigación propia?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80"/>
            <a:ext cx="4937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7A756C"/>
                </a:solidFill>
                <a:latin typeface="Calibri"/>
              </a:rPr>
              <a:t>Conserva bits por disparo, que ZNE, PEC y mthree no hacen. No se comparó con TREX sobre hardware: no se sabe cuál corrige mejor la lectura real.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2B2824"/>
                </a:solidFill>
                <a:latin typeface="Georgia"/>
              </a:rPr>
              <a:t>Respaldo: lo que este trabajo no afirma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17904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27080" cy="10972"/>
          </a:xfrm>
          <a:prstGeom prst="rect">
            <a:avLst/>
          </a:prstGeom>
          <a:solidFill>
            <a:srgbClr val="D9D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A756C"/>
                </a:solidFill>
                <a:latin typeface="Calibri"/>
              </a:rPr>
              <a:t>kaitokid · QRecauda · Hackatón Qiskit IBM Lima, Track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594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6C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7A756C"/>
                </a:solidFill>
                <a:latin typeface="Calibri"/>
              </a:rPr>
              <a:t>■  Origen cuántico: el simulador no aporta entropía cuántica; «certificada» significa «supera esta batería y estas cotas».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■  Hardware: ninguna corrida en un dispositivo de IBM; TRL del sistema 3.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■  Poder estadístico: E1, E2 y E5 tienen un poder limitado para fallar (propiedades algebraicas del twirling o control por construcción).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■  Latencia: E3b se midió en simulador, sin cola ni red de IBM, con una demanda de 100 transacciones por segundo declarada por el equipo.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■  Dimensionado: el conservador es opcional y no se re-midió en los experimentos de latencia.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7A756C"/>
                </a:solidFill>
                <a:latin typeface="Calibri"/>
              </a:rPr>
              <a:t>■  Normativa: ninguna norma revisada exige un QRNG; los umbrales de tasa y latencia vienen del equipo.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